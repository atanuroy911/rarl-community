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8" r:id="rId2"/>
    <p:sldId id="261" r:id="rId3"/>
    <p:sldId id="263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C1C"/>
    <a:srgbClr val="1A4147"/>
    <a:srgbClr val="4E8C95"/>
    <a:srgbClr val="479198"/>
    <a:srgbClr val="5DA3AF"/>
    <a:srgbClr val="4480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71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CD3BB-A31F-412C-909E-856F5925534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03ED6-C9DC-4EF5-99D5-66CC7D964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67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5C64-F927-4A36-BE23-95A3C756476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348B-BE1F-407D-969C-0EE30B2F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5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5C64-F927-4A36-BE23-95A3C756476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348B-BE1F-407D-969C-0EE30B2F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3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5C64-F927-4A36-BE23-95A3C756476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348B-BE1F-407D-969C-0EE30B2F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5C64-F927-4A36-BE23-95A3C756476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348B-BE1F-407D-969C-0EE30B2F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08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5C64-F927-4A36-BE23-95A3C756476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348B-BE1F-407D-969C-0EE30B2F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40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5C64-F927-4A36-BE23-95A3C756476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348B-BE1F-407D-969C-0EE30B2F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6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5C64-F927-4A36-BE23-95A3C756476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348B-BE1F-407D-969C-0EE30B2F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8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5C64-F927-4A36-BE23-95A3C756476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348B-BE1F-407D-969C-0EE30B2F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75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5C64-F927-4A36-BE23-95A3C756476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348B-BE1F-407D-969C-0EE30B2F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58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5C64-F927-4A36-BE23-95A3C756476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348B-BE1F-407D-969C-0EE30B2F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2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5C64-F927-4A36-BE23-95A3C756476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B348B-BE1F-407D-969C-0EE30B2F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9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05C64-F927-4A36-BE23-95A3C756476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B348B-BE1F-407D-969C-0EE30B2F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8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E51925-0E3F-0411-55E5-9F19299C8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90" y="85499"/>
            <a:ext cx="5549462" cy="3311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44B656-C84E-C0A2-F8AA-1DA46B3E3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90" y="3429000"/>
            <a:ext cx="5549462" cy="3311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AD5C6B-E622-B7CE-F9ED-6EA2FFA68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752" y="69733"/>
            <a:ext cx="5549462" cy="3311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B89F86-0835-84E9-B8E1-B9E2B6E0F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752" y="3413234"/>
            <a:ext cx="5549462" cy="3311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8D4969-79F2-A778-3835-6C363DC0A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90" y="-72155"/>
            <a:ext cx="2238703" cy="10593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F4D01A-397E-7720-C9D5-D8D108CFFB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898A51"/>
              </a:clrFrom>
              <a:clrTo>
                <a:srgbClr val="898A51">
                  <a:alpha val="0"/>
                </a:srgbClr>
              </a:clrTo>
            </a:clrChange>
          </a:blip>
          <a:srcRect l="12060" t="6570" r="15844" b="3875"/>
          <a:stretch/>
        </p:blipFill>
        <p:spPr>
          <a:xfrm>
            <a:off x="601317" y="1428750"/>
            <a:ext cx="979833" cy="9393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84A9AD-0D10-CE1B-FCAB-7C55B93594B6}"/>
              </a:ext>
            </a:extLst>
          </p:cNvPr>
          <p:cNvSpPr txBox="1"/>
          <p:nvPr/>
        </p:nvSpPr>
        <p:spPr>
          <a:xfrm>
            <a:off x="141890" y="760757"/>
            <a:ext cx="5549462" cy="276999"/>
          </a:xfrm>
          <a:prstGeom prst="rect">
            <a:avLst/>
          </a:prstGeom>
          <a:gradFill flip="none" rotWithShape="1">
            <a:gsLst>
              <a:gs pos="0">
                <a:srgbClr val="479198"/>
              </a:gs>
              <a:gs pos="74000">
                <a:schemeClr val="accent1">
                  <a:lumMod val="45000"/>
                  <a:lumOff val="55000"/>
                </a:schemeClr>
              </a:gs>
              <a:gs pos="39000">
                <a:srgbClr val="4E8C95"/>
              </a:gs>
            </a:gsLst>
            <a:lin ang="18900000" scaled="1"/>
            <a:tileRect/>
          </a:gra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b="1" spc="300" dirty="0" err="1"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Zeashan</a:t>
            </a:r>
            <a:r>
              <a:rPr lang="en-US" sz="1200" b="1" spc="300" dirty="0"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 Hameed Khan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F11ACD-B0CC-0A0A-B9DC-B8EEE1E9C14A}"/>
              </a:ext>
            </a:extLst>
          </p:cNvPr>
          <p:cNvSpPr txBox="1"/>
          <p:nvPr/>
        </p:nvSpPr>
        <p:spPr>
          <a:xfrm>
            <a:off x="3128763" y="272843"/>
            <a:ext cx="1562261" cy="369332"/>
          </a:xfrm>
          <a:prstGeom prst="rect">
            <a:avLst/>
          </a:prstGeom>
          <a:noFill/>
        </p:spPr>
        <p:txBody>
          <a:bodyPr wrap="none" rtlCol="0" anchor="b">
            <a:spAutoFit/>
            <a:scene3d>
              <a:camera prst="orthographicFront"/>
              <a:lightRig rig="threePt" dir="t"/>
            </a:scene3d>
            <a:sp3d extrusionH="25400" contourW="12700" prstMaterial="metal">
              <a:bevelT w="6350" h="31750"/>
              <a:bevelB w="38100" h="127000"/>
            </a:sp3d>
          </a:bodyPr>
          <a:lstStyle/>
          <a:p>
            <a:pPr algn="dist"/>
            <a:r>
              <a:rPr lang="en-US" b="1" spc="600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MEMBER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9B4A0-EA9E-1A8C-0F1B-C0E7F09FFE0A}"/>
              </a:ext>
            </a:extLst>
          </p:cNvPr>
          <p:cNvSpPr txBox="1"/>
          <p:nvPr/>
        </p:nvSpPr>
        <p:spPr>
          <a:xfrm>
            <a:off x="1261242" y="1489340"/>
            <a:ext cx="1440342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25400" contourW="12700" prstMaterial="metal">
              <a:bevelT w="6350" h="31750"/>
              <a:bevelB w="38100" h="127000"/>
            </a:sp3d>
          </a:bodyPr>
          <a:lstStyle/>
          <a:p>
            <a:pPr lvl="1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MEMBER ID:</a:t>
            </a:r>
          </a:p>
          <a:p>
            <a:pPr lvl="1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MEMBER SINCE: </a:t>
            </a:r>
          </a:p>
          <a:p>
            <a:pPr lvl="1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Section	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48107D-4E0E-56B9-ECAF-F7D0ABB481C8}"/>
              </a:ext>
            </a:extLst>
          </p:cNvPr>
          <p:cNvSpPr txBox="1"/>
          <p:nvPr/>
        </p:nvSpPr>
        <p:spPr>
          <a:xfrm>
            <a:off x="2484752" y="1420315"/>
            <a:ext cx="1674360" cy="73866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25400" contourW="12700" prstMaterial="metal">
              <a:bevelT w="6350" h="31750"/>
              <a:bevelB w="38100" h="127000"/>
            </a:sp3d>
          </a:bodyPr>
          <a:lstStyle/>
          <a:p>
            <a:pPr lvl="1"/>
            <a:r>
              <a:rPr lang="en-US" sz="1400" b="1" spc="300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2023/9/13</a:t>
            </a:r>
          </a:p>
          <a:p>
            <a:pPr lvl="1"/>
            <a:r>
              <a:rPr lang="en-US" sz="1400" b="1" spc="300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2025/01/01</a:t>
            </a:r>
          </a:p>
          <a:p>
            <a:pPr lvl="1"/>
            <a:r>
              <a:rPr lang="en-US" sz="1400" b="1" spc="300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Asia_R01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AF1B28-2014-03A3-D3B6-779E275FC6EC}"/>
              </a:ext>
            </a:extLst>
          </p:cNvPr>
          <p:cNvSpPr txBox="1"/>
          <p:nvPr/>
        </p:nvSpPr>
        <p:spPr>
          <a:xfrm>
            <a:off x="237578" y="3178079"/>
            <a:ext cx="5358086" cy="230832"/>
          </a:xfrm>
          <a:prstGeom prst="rect">
            <a:avLst/>
          </a:prstGeom>
          <a:solidFill>
            <a:srgbClr val="1A4147">
              <a:alpha val="37000"/>
            </a:srgbClr>
          </a:solidFill>
        </p:spPr>
        <p:txBody>
          <a:bodyPr wrap="square">
            <a:spAutoFit/>
          </a:bodyPr>
          <a:lstStyle/>
          <a:p>
            <a:r>
              <a:rPr lang="en-US" sz="900" b="1" i="1" dirty="0">
                <a:solidFill>
                  <a:schemeClr val="bg1"/>
                </a:solidFill>
              </a:rPr>
              <a:t>Robotics &amp; Automation Research Lab (RARL), Queens Building, Leicester, LE1 9BH, United Kingdom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36B8AF-3EB9-2289-98A0-859AE3E00B1C}"/>
              </a:ext>
            </a:extLst>
          </p:cNvPr>
          <p:cNvGrpSpPr/>
          <p:nvPr/>
        </p:nvGrpSpPr>
        <p:grpSpPr>
          <a:xfrm>
            <a:off x="905206" y="2891323"/>
            <a:ext cx="2045999" cy="285036"/>
            <a:chOff x="813630" y="2725253"/>
            <a:chExt cx="2595657" cy="285036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BCA8BC7-D297-1726-1B61-BDFFC48231B5}"/>
                </a:ext>
              </a:extLst>
            </p:cNvPr>
            <p:cNvCxnSpPr>
              <a:cxnSpLocks/>
            </p:cNvCxnSpPr>
            <p:nvPr/>
          </p:nvCxnSpPr>
          <p:spPr>
            <a:xfrm>
              <a:off x="1469956" y="2725253"/>
              <a:ext cx="151552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4527EB9-9AA5-73A3-79A2-8E379562D0BF}"/>
                </a:ext>
              </a:extLst>
            </p:cNvPr>
            <p:cNvSpPr txBox="1"/>
            <p:nvPr/>
          </p:nvSpPr>
          <p:spPr>
            <a:xfrm>
              <a:off x="813630" y="2733290"/>
              <a:ext cx="2595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25400" contourW="12700" prstMaterial="metal">
                <a:bevelT w="6350" h="31750"/>
                <a:bevelB w="38100" h="127000"/>
              </a:sp3d>
            </a:bodyPr>
            <a:lstStyle/>
            <a:p>
              <a:pPr lvl="1"/>
              <a:r>
                <a:rPr lang="en-US" sz="1200" b="1" dirty="0">
                  <a:solidFill>
                    <a:schemeClr val="bg1">
                      <a:lumMod val="95000"/>
                    </a:schemeClr>
                  </a:solidFill>
                  <a:effectLst>
                    <a:glow rad="12700">
                      <a:schemeClr val="tx2">
                        <a:lumMod val="75000"/>
                        <a:lumOff val="25000"/>
                        <a:alpha val="50000"/>
                      </a:schemeClr>
                    </a:glow>
                    <a:innerShdw blurRad="152400" dist="127000" dir="12600000">
                      <a:prstClr val="black">
                        <a:alpha val="14000"/>
                      </a:prstClr>
                    </a:innerShdw>
                  </a:effectLst>
                  <a:latin typeface="Bahnschrift SemiBold Condensed" panose="020B0502040204020203" pitchFamily="34" charset="0"/>
                  <a:cs typeface="0 Titr Bold" panose="00000700000000000000" pitchFamily="2" charset="-78"/>
                </a:rPr>
                <a:t>AUTHORIZED SIGNATURE 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C64A8300-5BC8-0A64-D33A-39D31D9FED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956" y="1359319"/>
            <a:ext cx="948351" cy="939363"/>
          </a:xfrm>
          <a:prstGeom prst="rect">
            <a:avLst/>
          </a:prstGeom>
          <a:ln w="38100" cap="sq">
            <a:solidFill>
              <a:schemeClr val="tx2">
                <a:lumMod val="90000"/>
                <a:lumOff val="10000"/>
              </a:schemeClr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E8D6F87-38B0-38C9-632E-E8D6F11F1AED}"/>
              </a:ext>
            </a:extLst>
          </p:cNvPr>
          <p:cNvSpPr txBox="1"/>
          <p:nvPr/>
        </p:nvSpPr>
        <p:spPr>
          <a:xfrm>
            <a:off x="3249417" y="2789411"/>
            <a:ext cx="1775079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25400" contourW="12700" prstMaterial="metal">
              <a:bevelT w="6350" h="31750"/>
              <a:bevelB w="38100" h="127000"/>
            </a:sp3d>
          </a:bodyPr>
          <a:lstStyle/>
          <a:p>
            <a:pPr lvl="1"/>
            <a:r>
              <a:rPr lang="en-US" sz="1000" b="1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https://rarl-lab.com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B92EC91-869C-D722-0EA9-CDD607386393}"/>
              </a:ext>
            </a:extLst>
          </p:cNvPr>
          <p:cNvSpPr/>
          <p:nvPr/>
        </p:nvSpPr>
        <p:spPr>
          <a:xfrm>
            <a:off x="5459728" y="406400"/>
            <a:ext cx="217661" cy="2950262"/>
          </a:xfrm>
          <a:prstGeom prst="roundRect">
            <a:avLst>
              <a:gd name="adj" fmla="val 50000"/>
            </a:avLst>
          </a:prstGeom>
          <a:solidFill>
            <a:srgbClr val="1F1C1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600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202</a:t>
            </a:r>
          </a:p>
          <a:p>
            <a:pPr algn="ctr"/>
            <a:r>
              <a:rPr lang="en-US" b="1" spc="600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6</a:t>
            </a:r>
          </a:p>
        </p:txBody>
      </p:sp>
      <p:pic>
        <p:nvPicPr>
          <p:cNvPr id="25" name="Picture 24" descr="A close up of a text&#10;&#10;Description automatically generated">
            <a:extLst>
              <a:ext uri="{FF2B5EF4-FFF2-40B4-BE49-F238E27FC236}">
                <a16:creationId xmlns:a16="http://schemas.microsoft.com/office/drawing/2014/main" id="{D6AA3363-4564-20EE-4807-7BC1BAC1C6D7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67" y="2410374"/>
            <a:ext cx="2195454" cy="65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75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ED8A4-FD4D-92DA-BF71-A22805E2D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E39096-B44B-3153-1F6C-4CCAB9C9F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90" y="85499"/>
            <a:ext cx="5549462" cy="3311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A4B58A-D78A-BC18-122F-FFDF82751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90" y="3429000"/>
            <a:ext cx="5549462" cy="3311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3BFF27-D3DB-4426-44E6-CAA23CEB7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752" y="69733"/>
            <a:ext cx="5549462" cy="3311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119143-A2DF-57FF-3AFA-7A8CD9520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752" y="3413234"/>
            <a:ext cx="5549462" cy="3311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C24F25-6B02-957A-A830-A9B11F213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90" y="-72155"/>
            <a:ext cx="2238703" cy="10593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44B1FC-70E6-6B74-FBB1-7617D024F3FE}"/>
              </a:ext>
            </a:extLst>
          </p:cNvPr>
          <p:cNvSpPr txBox="1"/>
          <p:nvPr/>
        </p:nvSpPr>
        <p:spPr>
          <a:xfrm>
            <a:off x="141890" y="760757"/>
            <a:ext cx="5549462" cy="276999"/>
          </a:xfrm>
          <a:prstGeom prst="rect">
            <a:avLst/>
          </a:prstGeom>
          <a:gradFill flip="none" rotWithShape="1">
            <a:gsLst>
              <a:gs pos="0">
                <a:srgbClr val="479198"/>
              </a:gs>
              <a:gs pos="74000">
                <a:schemeClr val="accent1">
                  <a:lumMod val="45000"/>
                  <a:lumOff val="55000"/>
                </a:schemeClr>
              </a:gs>
              <a:gs pos="39000">
                <a:srgbClr val="4E8C95"/>
              </a:gs>
            </a:gsLst>
            <a:lin ang="18900000" scaled="1"/>
            <a:tileRect/>
          </a:gradFill>
          <a:ln>
            <a:noFill/>
          </a:ln>
        </p:spPr>
        <p:txBody>
          <a:bodyPr wrap="square">
            <a:spAutoFit/>
          </a:bodyPr>
          <a:lstStyle/>
          <a:p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334783-99D3-D11A-369F-C48CAAFB1999}"/>
              </a:ext>
            </a:extLst>
          </p:cNvPr>
          <p:cNvSpPr txBox="1"/>
          <p:nvPr/>
        </p:nvSpPr>
        <p:spPr>
          <a:xfrm>
            <a:off x="3128763" y="272843"/>
            <a:ext cx="1562261" cy="369332"/>
          </a:xfrm>
          <a:prstGeom prst="rect">
            <a:avLst/>
          </a:prstGeom>
          <a:noFill/>
        </p:spPr>
        <p:txBody>
          <a:bodyPr wrap="none" rtlCol="0" anchor="b">
            <a:spAutoFit/>
            <a:scene3d>
              <a:camera prst="orthographicFront"/>
              <a:lightRig rig="threePt" dir="t"/>
            </a:scene3d>
            <a:sp3d extrusionH="25400" contourW="12700" prstMaterial="metal">
              <a:bevelT w="6350" h="31750"/>
              <a:bevelB w="38100" h="127000"/>
            </a:sp3d>
          </a:bodyPr>
          <a:lstStyle/>
          <a:p>
            <a:pPr algn="dist"/>
            <a:r>
              <a:rPr lang="en-US" b="1" spc="600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MEMBER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956CB9-0486-B660-C7A1-ED2C68023576}"/>
              </a:ext>
            </a:extLst>
          </p:cNvPr>
          <p:cNvSpPr txBox="1"/>
          <p:nvPr/>
        </p:nvSpPr>
        <p:spPr>
          <a:xfrm>
            <a:off x="1261242" y="1489340"/>
            <a:ext cx="1440342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25400" contourW="12700" prstMaterial="metal">
              <a:bevelT w="6350" h="31750"/>
              <a:bevelB w="38100" h="127000"/>
            </a:sp3d>
          </a:bodyPr>
          <a:lstStyle/>
          <a:p>
            <a:pPr lvl="1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MEMBER ID:</a:t>
            </a:r>
          </a:p>
          <a:p>
            <a:pPr lvl="1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MEMBER SINCE: </a:t>
            </a:r>
          </a:p>
          <a:p>
            <a:pPr lvl="1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Section	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5FC188-3B90-EC4F-DD36-C9FF1756B0D4}"/>
              </a:ext>
            </a:extLst>
          </p:cNvPr>
          <p:cNvSpPr txBox="1"/>
          <p:nvPr/>
        </p:nvSpPr>
        <p:spPr>
          <a:xfrm>
            <a:off x="237578" y="3178079"/>
            <a:ext cx="5358086" cy="230832"/>
          </a:xfrm>
          <a:prstGeom prst="rect">
            <a:avLst/>
          </a:prstGeom>
          <a:solidFill>
            <a:srgbClr val="1A4147">
              <a:alpha val="37000"/>
            </a:srgbClr>
          </a:solidFill>
        </p:spPr>
        <p:txBody>
          <a:bodyPr wrap="square">
            <a:spAutoFit/>
          </a:bodyPr>
          <a:lstStyle/>
          <a:p>
            <a:r>
              <a:rPr lang="en-US" sz="900" b="1" i="1" dirty="0">
                <a:solidFill>
                  <a:schemeClr val="bg1"/>
                </a:solidFill>
              </a:rPr>
              <a:t>Robotics &amp; Automation Research Lab (RARL), Queens Building, Leicester, LE1 9BH, United Kingdom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6A7047E-D437-B019-0E26-0E39264DE241}"/>
              </a:ext>
            </a:extLst>
          </p:cNvPr>
          <p:cNvGrpSpPr/>
          <p:nvPr/>
        </p:nvGrpSpPr>
        <p:grpSpPr>
          <a:xfrm>
            <a:off x="905206" y="2891323"/>
            <a:ext cx="2045999" cy="285036"/>
            <a:chOff x="813630" y="2725253"/>
            <a:chExt cx="2595657" cy="285036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92372E3-A83F-3153-7FC6-3EB7488B51D4}"/>
                </a:ext>
              </a:extLst>
            </p:cNvPr>
            <p:cNvCxnSpPr>
              <a:cxnSpLocks/>
            </p:cNvCxnSpPr>
            <p:nvPr/>
          </p:nvCxnSpPr>
          <p:spPr>
            <a:xfrm>
              <a:off x="1469956" y="2725253"/>
              <a:ext cx="151552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58B9E3D-398B-2F5D-8957-FA79755C51A3}"/>
                </a:ext>
              </a:extLst>
            </p:cNvPr>
            <p:cNvSpPr txBox="1"/>
            <p:nvPr/>
          </p:nvSpPr>
          <p:spPr>
            <a:xfrm>
              <a:off x="813630" y="2733290"/>
              <a:ext cx="2595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25400" contourW="12700" prstMaterial="metal">
                <a:bevelT w="6350" h="31750"/>
                <a:bevelB w="38100" h="127000"/>
              </a:sp3d>
            </a:bodyPr>
            <a:lstStyle/>
            <a:p>
              <a:pPr lvl="1"/>
              <a:r>
                <a:rPr lang="en-US" sz="1200" b="1" dirty="0">
                  <a:solidFill>
                    <a:schemeClr val="bg1">
                      <a:lumMod val="95000"/>
                    </a:schemeClr>
                  </a:solidFill>
                  <a:effectLst>
                    <a:glow rad="12700">
                      <a:schemeClr val="tx2">
                        <a:lumMod val="75000"/>
                        <a:lumOff val="25000"/>
                        <a:alpha val="50000"/>
                      </a:schemeClr>
                    </a:glow>
                    <a:innerShdw blurRad="152400" dist="127000" dir="12600000">
                      <a:prstClr val="black">
                        <a:alpha val="14000"/>
                      </a:prstClr>
                    </a:innerShdw>
                  </a:effectLst>
                  <a:latin typeface="Bahnschrift SemiBold Condensed" panose="020B0502040204020203" pitchFamily="34" charset="0"/>
                  <a:cs typeface="0 Titr Bold" panose="00000700000000000000" pitchFamily="2" charset="-78"/>
                </a:rPr>
                <a:t>AUTHORIZED SIGNATURE 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0AE21374-8588-0873-572E-60CB5E3FBF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956" y="1359319"/>
            <a:ext cx="948351" cy="939363"/>
          </a:xfrm>
          <a:prstGeom prst="rect">
            <a:avLst/>
          </a:prstGeom>
          <a:ln w="38100" cap="sq">
            <a:solidFill>
              <a:schemeClr val="tx2">
                <a:lumMod val="90000"/>
                <a:lumOff val="10000"/>
              </a:schemeClr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7C82C74-0232-62A6-93B3-65002BDCC60F}"/>
              </a:ext>
            </a:extLst>
          </p:cNvPr>
          <p:cNvSpPr txBox="1"/>
          <p:nvPr/>
        </p:nvSpPr>
        <p:spPr>
          <a:xfrm>
            <a:off x="3249417" y="2789411"/>
            <a:ext cx="1775079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25400" contourW="12700" prstMaterial="metal">
              <a:bevelT w="6350" h="31750"/>
              <a:bevelB w="38100" h="127000"/>
            </a:sp3d>
          </a:bodyPr>
          <a:lstStyle/>
          <a:p>
            <a:pPr lvl="1"/>
            <a:r>
              <a:rPr lang="en-US" sz="1000" b="1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https://rarl-lab.com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B4762D4-9AAD-8B11-CDB5-79B597DBF0F7}"/>
              </a:ext>
            </a:extLst>
          </p:cNvPr>
          <p:cNvSpPr/>
          <p:nvPr/>
        </p:nvSpPr>
        <p:spPr>
          <a:xfrm>
            <a:off x="5459728" y="406400"/>
            <a:ext cx="217661" cy="2950262"/>
          </a:xfrm>
          <a:prstGeom prst="roundRect">
            <a:avLst>
              <a:gd name="adj" fmla="val 50000"/>
            </a:avLst>
          </a:prstGeom>
          <a:solidFill>
            <a:srgbClr val="1F1C1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600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202</a:t>
            </a:r>
          </a:p>
          <a:p>
            <a:pPr algn="ctr"/>
            <a:r>
              <a:rPr lang="en-US" b="1" spc="600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6</a:t>
            </a:r>
          </a:p>
        </p:txBody>
      </p:sp>
      <p:pic>
        <p:nvPicPr>
          <p:cNvPr id="25" name="Picture 24" descr="A close up of a text&#10;&#10;Description automatically generated">
            <a:extLst>
              <a:ext uri="{FF2B5EF4-FFF2-40B4-BE49-F238E27FC236}">
                <a16:creationId xmlns:a16="http://schemas.microsoft.com/office/drawing/2014/main" id="{A99D87F3-716C-5F49-99ED-402107484B6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67" y="2410374"/>
            <a:ext cx="2195454" cy="65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38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ABA733-22A0-73A0-95F1-9AEFF3071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269" y="2242545"/>
            <a:ext cx="5549462" cy="33119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FDAEF1-C9ED-ED12-F0F2-47AD72057292}"/>
              </a:ext>
            </a:extLst>
          </p:cNvPr>
          <p:cNvSpPr txBox="1"/>
          <p:nvPr/>
        </p:nvSpPr>
        <p:spPr>
          <a:xfrm>
            <a:off x="3321269" y="2917803"/>
            <a:ext cx="5549462" cy="276999"/>
          </a:xfrm>
          <a:prstGeom prst="rect">
            <a:avLst/>
          </a:prstGeom>
          <a:gradFill flip="none" rotWithShape="1">
            <a:gsLst>
              <a:gs pos="0">
                <a:srgbClr val="479198"/>
              </a:gs>
              <a:gs pos="74000">
                <a:schemeClr val="accent1">
                  <a:lumMod val="45000"/>
                  <a:lumOff val="55000"/>
                </a:schemeClr>
              </a:gs>
              <a:gs pos="39000">
                <a:srgbClr val="4E8C95"/>
              </a:gs>
            </a:gsLst>
            <a:lin ang="18900000" scaled="1"/>
            <a:tileRect/>
          </a:gradFill>
          <a:ln>
            <a:noFill/>
          </a:ln>
        </p:spPr>
        <p:txBody>
          <a:bodyPr wrap="square">
            <a:spAutoFit/>
          </a:bodyPr>
          <a:lstStyle/>
          <a:p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2AF33E-1545-261D-8750-501A2B05EC16}"/>
              </a:ext>
            </a:extLst>
          </p:cNvPr>
          <p:cNvSpPr txBox="1"/>
          <p:nvPr/>
        </p:nvSpPr>
        <p:spPr>
          <a:xfrm>
            <a:off x="6308142" y="2429889"/>
            <a:ext cx="1562261" cy="369332"/>
          </a:xfrm>
          <a:prstGeom prst="rect">
            <a:avLst/>
          </a:prstGeom>
          <a:noFill/>
        </p:spPr>
        <p:txBody>
          <a:bodyPr wrap="none" rtlCol="0" anchor="b">
            <a:spAutoFit/>
            <a:scene3d>
              <a:camera prst="orthographicFront"/>
              <a:lightRig rig="threePt" dir="t"/>
            </a:scene3d>
            <a:sp3d extrusionH="25400" contourW="12700" prstMaterial="metal">
              <a:bevelT w="6350" h="31750"/>
              <a:bevelB w="38100" h="127000"/>
            </a:sp3d>
          </a:bodyPr>
          <a:lstStyle/>
          <a:p>
            <a:pPr algn="dist"/>
            <a:r>
              <a:rPr lang="en-US" b="1" spc="600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MEMBER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802CD6-EF1E-4976-1BD2-72936441655A}"/>
              </a:ext>
            </a:extLst>
          </p:cNvPr>
          <p:cNvSpPr txBox="1"/>
          <p:nvPr/>
        </p:nvSpPr>
        <p:spPr>
          <a:xfrm>
            <a:off x="4440621" y="3646386"/>
            <a:ext cx="1440342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25400" contourW="12700" prstMaterial="metal">
              <a:bevelT w="6350" h="31750"/>
              <a:bevelB w="38100" h="127000"/>
            </a:sp3d>
          </a:bodyPr>
          <a:lstStyle/>
          <a:p>
            <a:pPr lvl="1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MEMBER ID:</a:t>
            </a:r>
          </a:p>
          <a:p>
            <a:pPr lvl="1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MEMBER SINCE: </a:t>
            </a:r>
          </a:p>
          <a:p>
            <a:pPr lvl="1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Section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17E8FA-33C4-0117-148F-77D22D53F075}"/>
              </a:ext>
            </a:extLst>
          </p:cNvPr>
          <p:cNvSpPr txBox="1"/>
          <p:nvPr/>
        </p:nvSpPr>
        <p:spPr>
          <a:xfrm>
            <a:off x="3416957" y="5335125"/>
            <a:ext cx="5358086" cy="230832"/>
          </a:xfrm>
          <a:prstGeom prst="rect">
            <a:avLst/>
          </a:prstGeom>
          <a:solidFill>
            <a:srgbClr val="1A4147">
              <a:alpha val="37000"/>
            </a:srgbClr>
          </a:solidFill>
        </p:spPr>
        <p:txBody>
          <a:bodyPr wrap="square">
            <a:spAutoFit/>
          </a:bodyPr>
          <a:lstStyle/>
          <a:p>
            <a:r>
              <a:rPr lang="en-US" sz="900" b="1" i="1" dirty="0">
                <a:solidFill>
                  <a:schemeClr val="bg1"/>
                </a:solidFill>
              </a:rPr>
              <a:t>Robotics &amp; Automation Research Lab (RARL), Queens Building, Leicester, LE1 9BH, United Kingdom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27DA629-F1A5-1726-8FCE-365908C49638}"/>
              </a:ext>
            </a:extLst>
          </p:cNvPr>
          <p:cNvGrpSpPr/>
          <p:nvPr/>
        </p:nvGrpSpPr>
        <p:grpSpPr>
          <a:xfrm>
            <a:off x="4084585" y="5048369"/>
            <a:ext cx="2045999" cy="285036"/>
            <a:chOff x="813630" y="2725253"/>
            <a:chExt cx="2595657" cy="28503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8ED6077-9CCB-217C-B525-C374F789E793}"/>
                </a:ext>
              </a:extLst>
            </p:cNvPr>
            <p:cNvCxnSpPr>
              <a:cxnSpLocks/>
            </p:cNvCxnSpPr>
            <p:nvPr/>
          </p:nvCxnSpPr>
          <p:spPr>
            <a:xfrm>
              <a:off x="1469956" y="2725253"/>
              <a:ext cx="151552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47C4D69-1DFC-3CEB-C6A4-C9446C895A6A}"/>
                </a:ext>
              </a:extLst>
            </p:cNvPr>
            <p:cNvSpPr txBox="1"/>
            <p:nvPr/>
          </p:nvSpPr>
          <p:spPr>
            <a:xfrm>
              <a:off x="813630" y="2733290"/>
              <a:ext cx="2595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25400" contourW="12700" prstMaterial="metal">
                <a:bevelT w="6350" h="31750"/>
                <a:bevelB w="38100" h="127000"/>
              </a:sp3d>
            </a:bodyPr>
            <a:lstStyle/>
            <a:p>
              <a:pPr lvl="1"/>
              <a:r>
                <a:rPr lang="en-US" sz="1200" b="1" dirty="0">
                  <a:solidFill>
                    <a:schemeClr val="bg1">
                      <a:lumMod val="95000"/>
                    </a:schemeClr>
                  </a:solidFill>
                  <a:effectLst>
                    <a:glow rad="12700">
                      <a:schemeClr val="tx2">
                        <a:lumMod val="75000"/>
                        <a:lumOff val="25000"/>
                        <a:alpha val="50000"/>
                      </a:schemeClr>
                    </a:glow>
                    <a:innerShdw blurRad="152400" dist="127000" dir="12600000">
                      <a:prstClr val="black">
                        <a:alpha val="14000"/>
                      </a:prstClr>
                    </a:innerShdw>
                  </a:effectLst>
                  <a:latin typeface="Bahnschrift SemiBold Condensed" panose="020B0502040204020203" pitchFamily="34" charset="0"/>
                  <a:cs typeface="0 Titr Bold" panose="00000700000000000000" pitchFamily="2" charset="-78"/>
                </a:rPr>
                <a:t>AUTHORIZED SIGNATURE 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7A607C2-CA50-7F09-A0DD-1BB5CE7AB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335" y="3516365"/>
            <a:ext cx="948351" cy="939363"/>
          </a:xfrm>
          <a:prstGeom prst="rect">
            <a:avLst/>
          </a:prstGeom>
          <a:ln w="38100" cap="sq">
            <a:solidFill>
              <a:schemeClr val="tx2">
                <a:lumMod val="90000"/>
                <a:lumOff val="10000"/>
              </a:schemeClr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1567FF-1B49-CEB9-1F37-0BC78ED818A7}"/>
              </a:ext>
            </a:extLst>
          </p:cNvPr>
          <p:cNvSpPr txBox="1"/>
          <p:nvPr/>
        </p:nvSpPr>
        <p:spPr>
          <a:xfrm>
            <a:off x="6428796" y="4946457"/>
            <a:ext cx="1775079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25400" contourW="12700" prstMaterial="metal">
              <a:bevelT w="6350" h="31750"/>
              <a:bevelB w="38100" h="127000"/>
            </a:sp3d>
          </a:bodyPr>
          <a:lstStyle/>
          <a:p>
            <a:pPr lvl="1"/>
            <a:r>
              <a:rPr lang="en-US" sz="1000" b="1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https://rarl-lab.com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E3CBB44-1E36-26C2-260C-61A0726FF460}"/>
              </a:ext>
            </a:extLst>
          </p:cNvPr>
          <p:cNvSpPr/>
          <p:nvPr/>
        </p:nvSpPr>
        <p:spPr>
          <a:xfrm>
            <a:off x="8639107" y="2563446"/>
            <a:ext cx="217661" cy="2950262"/>
          </a:xfrm>
          <a:prstGeom prst="roundRect">
            <a:avLst>
              <a:gd name="adj" fmla="val 50000"/>
            </a:avLst>
          </a:prstGeom>
          <a:solidFill>
            <a:srgbClr val="1F1C1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600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202</a:t>
            </a:r>
          </a:p>
          <a:p>
            <a:pPr algn="ctr"/>
            <a:r>
              <a:rPr lang="en-US" b="1" spc="600" dirty="0">
                <a:solidFill>
                  <a:schemeClr val="bg1">
                    <a:lumMod val="95000"/>
                  </a:schemeClr>
                </a:solidFill>
                <a:effectLst>
                  <a:glow rad="12700">
                    <a:schemeClr val="tx2">
                      <a:lumMod val="75000"/>
                      <a:lumOff val="25000"/>
                      <a:alpha val="50000"/>
                    </a:schemeClr>
                  </a:glow>
                  <a:innerShdw blurRad="152400" dist="127000" dir="12600000">
                    <a:prstClr val="black">
                      <a:alpha val="14000"/>
                    </a:prstClr>
                  </a:innerShdw>
                </a:effectLst>
                <a:latin typeface="Bahnschrift SemiBold Condensed" panose="020B0502040204020203" pitchFamily="34" charset="0"/>
                <a:cs typeface="0 Titr Bold" panose="00000700000000000000" pitchFamily="2" charset="-78"/>
              </a:rPr>
              <a:t>6</a:t>
            </a:r>
          </a:p>
        </p:txBody>
      </p:sp>
      <p:pic>
        <p:nvPicPr>
          <p:cNvPr id="15" name="Picture 14" descr="A close up of a text&#10;&#10;Description automatically generated">
            <a:extLst>
              <a:ext uri="{FF2B5EF4-FFF2-40B4-BE49-F238E27FC236}">
                <a16:creationId xmlns:a16="http://schemas.microsoft.com/office/drawing/2014/main" id="{B79A7635-912A-8AE5-AB00-182A3A6DBEF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746" y="4567420"/>
            <a:ext cx="2195454" cy="6586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7906AF-EFA8-CD03-042E-1B6754905C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957" y="2084890"/>
            <a:ext cx="2238703" cy="105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6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73F7C71-7DA1-F78D-589E-4137605D72F6}"/>
              </a:ext>
            </a:extLst>
          </p:cNvPr>
          <p:cNvGrpSpPr/>
          <p:nvPr/>
        </p:nvGrpSpPr>
        <p:grpSpPr>
          <a:xfrm>
            <a:off x="236483" y="43650"/>
            <a:ext cx="11884514" cy="6599446"/>
            <a:chOff x="6081870" y="43650"/>
            <a:chExt cx="5221540" cy="659944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AB50E37-5F54-BE09-F2E7-3CDFD67C0057}"/>
                </a:ext>
              </a:extLst>
            </p:cNvPr>
            <p:cNvSpPr/>
            <p:nvPr/>
          </p:nvSpPr>
          <p:spPr>
            <a:xfrm>
              <a:off x="6081870" y="43650"/>
              <a:ext cx="5221540" cy="6599446"/>
            </a:xfrm>
            <a:prstGeom prst="roundRect">
              <a:avLst>
                <a:gd name="adj" fmla="val 6426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CER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97DAAB-31EF-4E83-8DF6-383FF9397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91" r="17335"/>
            <a:stretch>
              <a:fillRect/>
            </a:stretch>
          </p:blipFill>
          <p:spPr>
            <a:xfrm>
              <a:off x="10527714" y="129573"/>
              <a:ext cx="694072" cy="159636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70FA56-0A71-0ED4-F175-68483466B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8923" y="298666"/>
              <a:ext cx="1029278" cy="113943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37AD8A-E20C-D185-967F-859027B955AC}"/>
                </a:ext>
              </a:extLst>
            </p:cNvPr>
            <p:cNvSpPr txBox="1"/>
            <p:nvPr/>
          </p:nvSpPr>
          <p:spPr>
            <a:xfrm>
              <a:off x="6627619" y="1378471"/>
              <a:ext cx="41300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CERTIFICATE  OF   MEMBERSHIP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FAB7FB-59DE-137A-7A70-80B3E90CFBAD}"/>
                </a:ext>
              </a:extLst>
            </p:cNvPr>
            <p:cNvSpPr txBox="1"/>
            <p:nvPr/>
          </p:nvSpPr>
          <p:spPr>
            <a:xfrm>
              <a:off x="6154575" y="2452263"/>
              <a:ext cx="505161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is to certify that, Mr. </a:t>
              </a:r>
              <a:r>
                <a:rPr lang="en-US" sz="2000" i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ATANU SHUVAM ROY </a:t>
              </a:r>
              <a:r>
                <a:rPr lang="en-U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Has been duly elected as a </a:t>
              </a:r>
            </a:p>
            <a:p>
              <a:pPr algn="ctr"/>
              <a:r>
                <a:rPr lang="en-U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 MEMBER</a:t>
              </a:r>
              <a:r>
                <a:rPr lang="en-U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ctr"/>
              <a:r>
                <a:rPr lang="en-U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In good standing with the Robotic And Automation Research Laboratory (RARL)</a:t>
              </a:r>
            </a:p>
            <a:p>
              <a:pPr algn="ctr"/>
              <a:r>
                <a:rPr lang="en-U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From  June 25, 2023</a:t>
              </a:r>
              <a:r>
                <a:rPr lang="en-U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ctr"/>
              <a:r>
                <a:rPr lang="en-U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membership acknowledges commitment to the advancement of intelligent robotic systems and adherence to laboratory's principles and code of conduct.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7ECC2CD-6A5A-2929-85E5-4F1C91CB1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3408" y="4770412"/>
              <a:ext cx="574254" cy="1170122"/>
            </a:xfrm>
            <a:prstGeom prst="rect">
              <a:avLst/>
            </a:prstGeom>
            <a:ln w="12700" cap="sq">
              <a:solidFill>
                <a:schemeClr val="tx2">
                  <a:lumMod val="90000"/>
                  <a:lumOff val="10000"/>
                </a:schemeClr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4D04ACD-A9CF-18EE-DFFD-692381835CB7}"/>
                </a:ext>
              </a:extLst>
            </p:cNvPr>
            <p:cNvSpPr txBox="1"/>
            <p:nvPr/>
          </p:nvSpPr>
          <p:spPr>
            <a:xfrm>
              <a:off x="6241341" y="6023941"/>
              <a:ext cx="144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Verify membership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C1F09C4-0101-21B0-1FA2-0EA5E7A1DA19}"/>
                </a:ext>
              </a:extLst>
            </p:cNvPr>
            <p:cNvSpPr/>
            <p:nvPr/>
          </p:nvSpPr>
          <p:spPr>
            <a:xfrm>
              <a:off x="6179091" y="129277"/>
              <a:ext cx="5027097" cy="6433546"/>
            </a:xfrm>
            <a:prstGeom prst="roundRect">
              <a:avLst>
                <a:gd name="adj" fmla="val 6187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2123B2D-84FB-80CD-F890-40990CC489CE}"/>
              </a:ext>
            </a:extLst>
          </p:cNvPr>
          <p:cNvSpPr txBox="1"/>
          <p:nvPr/>
        </p:nvSpPr>
        <p:spPr>
          <a:xfrm>
            <a:off x="757919" y="6314181"/>
            <a:ext cx="8091804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25400" contourW="12700" prstMaterial="metal">
              <a:bevelT w="6350" h="31750"/>
              <a:bevelB w="38100" h="127000"/>
            </a:sp3d>
          </a:bodyPr>
          <a:lstStyle>
            <a:defPPr>
              <a:defRPr lang="en-US"/>
            </a:defPPr>
            <a:lvl2pPr lvl="1">
              <a:defRPr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r>
              <a:rPr lang="en-US" sz="1400" dirty="0"/>
              <a:t>Robotics &amp; Automation Research Lab (RARL), Queens Building, Leicester, LE1 9BH, United Kingdom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CAA214-3EE0-7302-15AC-B77347BDCAE6}"/>
              </a:ext>
            </a:extLst>
          </p:cNvPr>
          <p:cNvGrpSpPr/>
          <p:nvPr/>
        </p:nvGrpSpPr>
        <p:grpSpPr>
          <a:xfrm>
            <a:off x="7008065" y="5541759"/>
            <a:ext cx="2163820" cy="498776"/>
            <a:chOff x="1341991" y="2588564"/>
            <a:chExt cx="2745131" cy="498776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6F5E73E-D416-4E69-8C68-C8959AC605CD}"/>
                </a:ext>
              </a:extLst>
            </p:cNvPr>
            <p:cNvCxnSpPr>
              <a:cxnSpLocks/>
            </p:cNvCxnSpPr>
            <p:nvPr/>
          </p:nvCxnSpPr>
          <p:spPr>
            <a:xfrm>
              <a:off x="1483673" y="2588564"/>
              <a:ext cx="151552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E00923-6D71-F728-0FC6-A2EFFAE614E8}"/>
                </a:ext>
              </a:extLst>
            </p:cNvPr>
            <p:cNvSpPr txBox="1"/>
            <p:nvPr/>
          </p:nvSpPr>
          <p:spPr>
            <a:xfrm>
              <a:off x="1341991" y="2625675"/>
              <a:ext cx="27451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25400" contourW="12700" prstMaterial="metal">
                <a:bevelT w="6350" h="31750"/>
                <a:bevelB w="38100" h="127000"/>
              </a:sp3d>
            </a:bodyPr>
            <a:lstStyle/>
            <a:p>
              <a:pPr lvl="1" algn="ctr"/>
              <a:r>
                <a:rPr lang="en-US" sz="1200" b="1" dirty="0">
                  <a:effectLst>
                    <a:glow rad="12700">
                      <a:schemeClr val="tx2">
                        <a:lumMod val="75000"/>
                        <a:lumOff val="25000"/>
                        <a:alpha val="50000"/>
                      </a:schemeClr>
                    </a:glow>
                    <a:innerShdw blurRad="152400" dist="127000" dir="12600000">
                      <a:prstClr val="black">
                        <a:alpha val="14000"/>
                      </a:prstClr>
                    </a:innerShdw>
                  </a:effectLst>
                  <a:latin typeface="Bahnschrift SemiBold Condensed" panose="020B0502040204020203" pitchFamily="34" charset="0"/>
                  <a:cs typeface="0 Titr Bold" panose="00000700000000000000" pitchFamily="2" charset="-78"/>
                </a:rPr>
                <a:t>S. Ali  Eftekhari </a:t>
              </a:r>
            </a:p>
            <a:p>
              <a:pPr lvl="1" algn="ctr"/>
              <a:r>
                <a:rPr lang="en-US" sz="1200" b="1" dirty="0">
                  <a:effectLst>
                    <a:glow rad="12700">
                      <a:schemeClr val="tx2">
                        <a:lumMod val="75000"/>
                        <a:lumOff val="25000"/>
                        <a:alpha val="50000"/>
                      </a:schemeClr>
                    </a:glow>
                    <a:innerShdw blurRad="152400" dist="127000" dir="12600000">
                      <a:prstClr val="black">
                        <a:alpha val="14000"/>
                      </a:prstClr>
                    </a:innerShdw>
                  </a:effectLst>
                  <a:latin typeface="Bahnschrift SemiBold Condensed" panose="020B0502040204020203" pitchFamily="34" charset="0"/>
                  <a:cs typeface="0 Titr Bold" panose="00000700000000000000" pitchFamily="2" charset="-78"/>
                </a:rPr>
                <a:t>2026 Asia Section Chair 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BFA6AE4-CDD8-F5EA-2ABF-B7CA9332AED0}"/>
              </a:ext>
            </a:extLst>
          </p:cNvPr>
          <p:cNvSpPr txBox="1"/>
          <p:nvPr/>
        </p:nvSpPr>
        <p:spPr>
          <a:xfrm>
            <a:off x="9110643" y="6168288"/>
            <a:ext cx="3120995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25400" contourW="12700" prstMaterial="metal">
              <a:bevelT w="6350" h="31750"/>
              <a:bevelB w="38100" h="127000"/>
            </a:sp3d>
          </a:bodyPr>
          <a:lstStyle>
            <a:defPPr>
              <a:defRPr lang="en-US"/>
            </a:defPPr>
            <a:lvl1pPr>
              <a:defRPr sz="1400"/>
            </a:lvl1pPr>
            <a:lvl2pPr lvl="1">
              <a:defRPr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1"/>
            <a:r>
              <a:rPr lang="en-US" dirty="0"/>
              <a:t>https://rarl-lab.com</a:t>
            </a:r>
          </a:p>
        </p:txBody>
      </p:sp>
      <p:pic>
        <p:nvPicPr>
          <p:cNvPr id="22" name="Picture 21" descr="A close up of a text&#10;&#10;Description automatically generated">
            <a:extLst>
              <a:ext uri="{FF2B5EF4-FFF2-40B4-BE49-F238E27FC236}">
                <a16:creationId xmlns:a16="http://schemas.microsoft.com/office/drawing/2014/main" id="{0A41509D-0793-4343-EF6B-B2F3253AD68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621" y="4976387"/>
            <a:ext cx="1893264" cy="567979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7E6AB59-85D3-D29D-0C0B-CEF9CD2999A6}"/>
              </a:ext>
            </a:extLst>
          </p:cNvPr>
          <p:cNvGrpSpPr/>
          <p:nvPr/>
        </p:nvGrpSpPr>
        <p:grpSpPr>
          <a:xfrm>
            <a:off x="3780974" y="5595319"/>
            <a:ext cx="2085614" cy="461665"/>
            <a:chOff x="1024012" y="2702751"/>
            <a:chExt cx="2203982" cy="46166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09A90D-D954-4DC6-4A84-9D2D4DA7BB55}"/>
                </a:ext>
              </a:extLst>
            </p:cNvPr>
            <p:cNvCxnSpPr>
              <a:cxnSpLocks/>
            </p:cNvCxnSpPr>
            <p:nvPr/>
          </p:nvCxnSpPr>
          <p:spPr>
            <a:xfrm>
              <a:off x="1469956" y="2725253"/>
              <a:ext cx="151552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E8C82E6-CB4A-8E1D-39DB-596A70FD4722}"/>
                </a:ext>
              </a:extLst>
            </p:cNvPr>
            <p:cNvSpPr txBox="1"/>
            <p:nvPr/>
          </p:nvSpPr>
          <p:spPr>
            <a:xfrm>
              <a:off x="1024012" y="2702751"/>
              <a:ext cx="2203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25400" contourW="12700" prstMaterial="metal">
                <a:bevelT w="6350" h="31750"/>
                <a:bevelB w="38100" h="127000"/>
              </a:sp3d>
            </a:bodyPr>
            <a:lstStyle/>
            <a:p>
              <a:pPr lvl="1"/>
              <a:r>
                <a:rPr lang="en-US" sz="1200" b="1" dirty="0">
                  <a:effectLst>
                    <a:glow rad="12700">
                      <a:schemeClr val="tx2">
                        <a:lumMod val="75000"/>
                        <a:lumOff val="25000"/>
                        <a:alpha val="50000"/>
                      </a:schemeClr>
                    </a:glow>
                    <a:innerShdw blurRad="152400" dist="127000" dir="12600000">
                      <a:prstClr val="black">
                        <a:alpha val="14000"/>
                      </a:prstClr>
                    </a:innerShdw>
                  </a:effectLst>
                  <a:latin typeface="Bahnschrift SemiBold Condensed" panose="020B0502040204020203" pitchFamily="34" charset="0"/>
                  <a:cs typeface="0 Titr Bold" panose="00000700000000000000" pitchFamily="2" charset="-78"/>
                </a:rPr>
                <a:t>Ata Jahangir Moshayedi </a:t>
              </a:r>
            </a:p>
            <a:p>
              <a:pPr lvl="1"/>
              <a:r>
                <a:rPr lang="en-US" sz="1200" b="1" dirty="0">
                  <a:effectLst>
                    <a:glow rad="12700">
                      <a:schemeClr val="tx2">
                        <a:lumMod val="75000"/>
                        <a:lumOff val="25000"/>
                        <a:alpha val="50000"/>
                      </a:schemeClr>
                    </a:glow>
                    <a:innerShdw blurRad="152400" dist="127000" dir="12600000">
                      <a:prstClr val="black">
                        <a:alpha val="14000"/>
                      </a:prstClr>
                    </a:innerShdw>
                  </a:effectLst>
                  <a:latin typeface="Bahnschrift SemiBold Condensed" panose="020B0502040204020203" pitchFamily="34" charset="0"/>
                  <a:cs typeface="0 Titr Bold" panose="00000700000000000000" pitchFamily="2" charset="-78"/>
                </a:rPr>
                <a:t>2026 RARL President</a:t>
              </a:r>
            </a:p>
          </p:txBody>
        </p:sp>
      </p:grpSp>
      <p:pic>
        <p:nvPicPr>
          <p:cNvPr id="26" name="Picture 2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EDD6A33-1607-DEAD-4F0E-689E4326923A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774" y="4992172"/>
            <a:ext cx="2202205" cy="67135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59642D3-BF15-55C4-2966-546473229A08}"/>
              </a:ext>
            </a:extLst>
          </p:cNvPr>
          <p:cNvSpPr txBox="1"/>
          <p:nvPr/>
        </p:nvSpPr>
        <p:spPr>
          <a:xfrm>
            <a:off x="2724394" y="538909"/>
            <a:ext cx="74097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Robotics &amp; Automation Research Lab (RARL)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30D23D-AC5E-12DA-7108-76D277A5BA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65" r="31064"/>
          <a:stretch>
            <a:fillRect/>
          </a:stretch>
        </p:blipFill>
        <p:spPr>
          <a:xfrm flipH="1">
            <a:off x="10755817" y="4440554"/>
            <a:ext cx="947069" cy="171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449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780DE-B8F8-2221-84CF-168A66D2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403133B-B2A7-C132-939D-DC964E2E6334}"/>
              </a:ext>
            </a:extLst>
          </p:cNvPr>
          <p:cNvGrpSpPr/>
          <p:nvPr/>
        </p:nvGrpSpPr>
        <p:grpSpPr>
          <a:xfrm>
            <a:off x="236483" y="43650"/>
            <a:ext cx="11884514" cy="6599446"/>
            <a:chOff x="6081870" y="43650"/>
            <a:chExt cx="5221540" cy="659944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9A69778-3E07-BABD-F662-FE223562AF2B}"/>
                </a:ext>
              </a:extLst>
            </p:cNvPr>
            <p:cNvSpPr/>
            <p:nvPr/>
          </p:nvSpPr>
          <p:spPr>
            <a:xfrm>
              <a:off x="6081870" y="43650"/>
              <a:ext cx="5221540" cy="6599446"/>
            </a:xfrm>
            <a:prstGeom prst="roundRect">
              <a:avLst>
                <a:gd name="adj" fmla="val 6426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CER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446E29E-56AF-2F33-865B-81759EC3C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91" r="17335"/>
            <a:stretch>
              <a:fillRect/>
            </a:stretch>
          </p:blipFill>
          <p:spPr>
            <a:xfrm>
              <a:off x="10527714" y="129573"/>
              <a:ext cx="694072" cy="159636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23FA338-FE3F-CF2F-34EF-F61B8AD4A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8923" y="298666"/>
              <a:ext cx="1029278" cy="113943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CB7CC2-D47F-49D9-7974-DC71563CE88B}"/>
                </a:ext>
              </a:extLst>
            </p:cNvPr>
            <p:cNvSpPr txBox="1"/>
            <p:nvPr/>
          </p:nvSpPr>
          <p:spPr>
            <a:xfrm>
              <a:off x="6627619" y="1378471"/>
              <a:ext cx="41300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CERTIFICATE  OF   MEMBERSHIP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38765C-EDA3-57D0-5C5A-1267F8D2F4BE}"/>
                </a:ext>
              </a:extLst>
            </p:cNvPr>
            <p:cNvSpPr txBox="1"/>
            <p:nvPr/>
          </p:nvSpPr>
          <p:spPr>
            <a:xfrm>
              <a:off x="6154575" y="2452263"/>
              <a:ext cx="50516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D7B19D9-364E-0A12-9D49-AB4EF5543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3408" y="4770412"/>
              <a:ext cx="574254" cy="1170122"/>
            </a:xfrm>
            <a:prstGeom prst="rect">
              <a:avLst/>
            </a:prstGeom>
            <a:ln w="12700" cap="sq">
              <a:solidFill>
                <a:schemeClr val="tx2">
                  <a:lumMod val="90000"/>
                  <a:lumOff val="10000"/>
                </a:schemeClr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85AC5FE-6581-3B15-55EC-91B75528DCCA}"/>
                </a:ext>
              </a:extLst>
            </p:cNvPr>
            <p:cNvSpPr txBox="1"/>
            <p:nvPr/>
          </p:nvSpPr>
          <p:spPr>
            <a:xfrm>
              <a:off x="6241341" y="6023941"/>
              <a:ext cx="144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Verify membership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D2EF4C5-5F42-82C4-3024-66648425CA0A}"/>
                </a:ext>
              </a:extLst>
            </p:cNvPr>
            <p:cNvSpPr/>
            <p:nvPr/>
          </p:nvSpPr>
          <p:spPr>
            <a:xfrm>
              <a:off x="6179091" y="129277"/>
              <a:ext cx="5027097" cy="6433546"/>
            </a:xfrm>
            <a:prstGeom prst="roundRect">
              <a:avLst>
                <a:gd name="adj" fmla="val 6187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88B1BDC-237F-5892-48D2-590934972D58}"/>
              </a:ext>
            </a:extLst>
          </p:cNvPr>
          <p:cNvSpPr txBox="1"/>
          <p:nvPr/>
        </p:nvSpPr>
        <p:spPr>
          <a:xfrm>
            <a:off x="757919" y="6314181"/>
            <a:ext cx="8091804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25400" contourW="12700" prstMaterial="metal">
              <a:bevelT w="6350" h="31750"/>
              <a:bevelB w="38100" h="127000"/>
            </a:sp3d>
          </a:bodyPr>
          <a:lstStyle>
            <a:defPPr>
              <a:defRPr lang="en-US"/>
            </a:defPPr>
            <a:lvl2pPr lvl="1">
              <a:defRPr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r>
              <a:rPr lang="en-US" sz="1400" dirty="0"/>
              <a:t>Robotics &amp; Automation Research Lab (RARL), Queens Building, Leicester, LE1 9BH, United Kingdom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2EEB809-A4AD-800D-EE72-44E3EAD474C0}"/>
              </a:ext>
            </a:extLst>
          </p:cNvPr>
          <p:cNvGrpSpPr/>
          <p:nvPr/>
        </p:nvGrpSpPr>
        <p:grpSpPr>
          <a:xfrm>
            <a:off x="7008065" y="5541759"/>
            <a:ext cx="2163820" cy="498776"/>
            <a:chOff x="1341991" y="2588564"/>
            <a:chExt cx="2745131" cy="498776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9C0C86D-F6D6-FBF8-65EA-51060411E5F0}"/>
                </a:ext>
              </a:extLst>
            </p:cNvPr>
            <p:cNvCxnSpPr>
              <a:cxnSpLocks/>
            </p:cNvCxnSpPr>
            <p:nvPr/>
          </p:nvCxnSpPr>
          <p:spPr>
            <a:xfrm>
              <a:off x="1483673" y="2588564"/>
              <a:ext cx="151552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CE9AAF3-DEF6-5B7F-B196-F9AB71BE1EC0}"/>
                </a:ext>
              </a:extLst>
            </p:cNvPr>
            <p:cNvSpPr txBox="1"/>
            <p:nvPr/>
          </p:nvSpPr>
          <p:spPr>
            <a:xfrm>
              <a:off x="1341991" y="2625675"/>
              <a:ext cx="27451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25400" contourW="12700" prstMaterial="metal">
                <a:bevelT w="6350" h="31750"/>
                <a:bevelB w="38100" h="127000"/>
              </a:sp3d>
            </a:bodyPr>
            <a:lstStyle/>
            <a:p>
              <a:pPr lvl="1" algn="ctr"/>
              <a:r>
                <a:rPr lang="en-US" sz="1200" b="1" dirty="0">
                  <a:effectLst>
                    <a:glow rad="12700">
                      <a:schemeClr val="tx2">
                        <a:lumMod val="75000"/>
                        <a:lumOff val="25000"/>
                        <a:alpha val="50000"/>
                      </a:schemeClr>
                    </a:glow>
                    <a:innerShdw blurRad="152400" dist="127000" dir="12600000">
                      <a:prstClr val="black">
                        <a:alpha val="14000"/>
                      </a:prstClr>
                    </a:innerShdw>
                  </a:effectLst>
                  <a:latin typeface="Bahnschrift SemiBold Condensed" panose="020B0502040204020203" pitchFamily="34" charset="0"/>
                  <a:cs typeface="0 Titr Bold" panose="00000700000000000000" pitchFamily="2" charset="-78"/>
                </a:rPr>
                <a:t>S. Ali  Eftekhari </a:t>
              </a:r>
            </a:p>
            <a:p>
              <a:pPr lvl="1" algn="ctr"/>
              <a:r>
                <a:rPr lang="en-US" sz="1200" b="1" dirty="0">
                  <a:effectLst>
                    <a:glow rad="12700">
                      <a:schemeClr val="tx2">
                        <a:lumMod val="75000"/>
                        <a:lumOff val="25000"/>
                        <a:alpha val="50000"/>
                      </a:schemeClr>
                    </a:glow>
                    <a:innerShdw blurRad="152400" dist="127000" dir="12600000">
                      <a:prstClr val="black">
                        <a:alpha val="14000"/>
                      </a:prstClr>
                    </a:innerShdw>
                  </a:effectLst>
                  <a:latin typeface="Bahnschrift SemiBold Condensed" panose="020B0502040204020203" pitchFamily="34" charset="0"/>
                  <a:cs typeface="0 Titr Bold" panose="00000700000000000000" pitchFamily="2" charset="-78"/>
                </a:rPr>
                <a:t>2026 Asia Section Chair 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679C96B-525E-1BBE-40A2-A170DB7BD84D}"/>
              </a:ext>
            </a:extLst>
          </p:cNvPr>
          <p:cNvSpPr txBox="1"/>
          <p:nvPr/>
        </p:nvSpPr>
        <p:spPr>
          <a:xfrm>
            <a:off x="9110643" y="6168288"/>
            <a:ext cx="3120995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25400" contourW="12700" prstMaterial="metal">
              <a:bevelT w="6350" h="31750"/>
              <a:bevelB w="38100" h="127000"/>
            </a:sp3d>
          </a:bodyPr>
          <a:lstStyle>
            <a:defPPr>
              <a:defRPr lang="en-US"/>
            </a:defPPr>
            <a:lvl1pPr>
              <a:defRPr sz="1400"/>
            </a:lvl1pPr>
            <a:lvl2pPr lvl="1">
              <a:defRPr sz="2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1"/>
            <a:r>
              <a:rPr lang="en-US" dirty="0"/>
              <a:t>https://rarl-lab.com</a:t>
            </a:r>
          </a:p>
        </p:txBody>
      </p:sp>
      <p:pic>
        <p:nvPicPr>
          <p:cNvPr id="22" name="Picture 21" descr="A close up of a text&#10;&#10;Description automatically generated">
            <a:extLst>
              <a:ext uri="{FF2B5EF4-FFF2-40B4-BE49-F238E27FC236}">
                <a16:creationId xmlns:a16="http://schemas.microsoft.com/office/drawing/2014/main" id="{32A3C739-9386-4CD2-C0A5-F31F796478FC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621" y="4976387"/>
            <a:ext cx="1893264" cy="567979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77948B46-1B06-0A43-21DB-E82ED952043E}"/>
              </a:ext>
            </a:extLst>
          </p:cNvPr>
          <p:cNvGrpSpPr/>
          <p:nvPr/>
        </p:nvGrpSpPr>
        <p:grpSpPr>
          <a:xfrm>
            <a:off x="3780974" y="5595319"/>
            <a:ext cx="2085614" cy="461665"/>
            <a:chOff x="1024012" y="2702751"/>
            <a:chExt cx="2203982" cy="46166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A3D8D58-2234-D684-D629-5856F219192E}"/>
                </a:ext>
              </a:extLst>
            </p:cNvPr>
            <p:cNvCxnSpPr>
              <a:cxnSpLocks/>
            </p:cNvCxnSpPr>
            <p:nvPr/>
          </p:nvCxnSpPr>
          <p:spPr>
            <a:xfrm>
              <a:off x="1469956" y="2725253"/>
              <a:ext cx="151552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7C7B804-F39E-1659-3DC9-4B1087299115}"/>
                </a:ext>
              </a:extLst>
            </p:cNvPr>
            <p:cNvSpPr txBox="1"/>
            <p:nvPr/>
          </p:nvSpPr>
          <p:spPr>
            <a:xfrm>
              <a:off x="1024012" y="2702751"/>
              <a:ext cx="2203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25400" contourW="12700" prstMaterial="metal">
                <a:bevelT w="6350" h="31750"/>
                <a:bevelB w="38100" h="127000"/>
              </a:sp3d>
            </a:bodyPr>
            <a:lstStyle/>
            <a:p>
              <a:pPr lvl="1"/>
              <a:r>
                <a:rPr lang="en-US" sz="1200" b="1" dirty="0">
                  <a:effectLst>
                    <a:glow rad="12700">
                      <a:schemeClr val="tx2">
                        <a:lumMod val="75000"/>
                        <a:lumOff val="25000"/>
                        <a:alpha val="50000"/>
                      </a:schemeClr>
                    </a:glow>
                    <a:innerShdw blurRad="152400" dist="127000" dir="12600000">
                      <a:prstClr val="black">
                        <a:alpha val="14000"/>
                      </a:prstClr>
                    </a:innerShdw>
                  </a:effectLst>
                  <a:latin typeface="Bahnschrift SemiBold Condensed" panose="020B0502040204020203" pitchFamily="34" charset="0"/>
                  <a:cs typeface="0 Titr Bold" panose="00000700000000000000" pitchFamily="2" charset="-78"/>
                </a:rPr>
                <a:t>Ata Jahangir Moshayedi </a:t>
              </a:r>
            </a:p>
            <a:p>
              <a:pPr lvl="1"/>
              <a:r>
                <a:rPr lang="en-US" sz="1200" b="1" dirty="0">
                  <a:effectLst>
                    <a:glow rad="12700">
                      <a:schemeClr val="tx2">
                        <a:lumMod val="75000"/>
                        <a:lumOff val="25000"/>
                        <a:alpha val="50000"/>
                      </a:schemeClr>
                    </a:glow>
                    <a:innerShdw blurRad="152400" dist="127000" dir="12600000">
                      <a:prstClr val="black">
                        <a:alpha val="14000"/>
                      </a:prstClr>
                    </a:innerShdw>
                  </a:effectLst>
                  <a:latin typeface="Bahnschrift SemiBold Condensed" panose="020B0502040204020203" pitchFamily="34" charset="0"/>
                  <a:cs typeface="0 Titr Bold" panose="00000700000000000000" pitchFamily="2" charset="-78"/>
                </a:rPr>
                <a:t>2026 RARL President</a:t>
              </a:r>
            </a:p>
          </p:txBody>
        </p:sp>
      </p:grpSp>
      <p:pic>
        <p:nvPicPr>
          <p:cNvPr id="26" name="Picture 2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B4191BE-E879-BDB9-DF09-BE47A4B3686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774" y="4992172"/>
            <a:ext cx="2202205" cy="67135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82F7C8C-1705-8CDE-5CCC-A84023B98E1B}"/>
              </a:ext>
            </a:extLst>
          </p:cNvPr>
          <p:cNvSpPr txBox="1"/>
          <p:nvPr/>
        </p:nvSpPr>
        <p:spPr>
          <a:xfrm>
            <a:off x="2724394" y="538909"/>
            <a:ext cx="74097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Robotics &amp; Automation Research Lab (RARL)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C9A020-2310-BF9E-7D70-BD743F8DDE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65" r="31064"/>
          <a:stretch>
            <a:fillRect/>
          </a:stretch>
        </p:blipFill>
        <p:spPr>
          <a:xfrm flipH="1">
            <a:off x="10755817" y="4440554"/>
            <a:ext cx="947069" cy="171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87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276</Words>
  <Application>Microsoft Office PowerPoint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Bahnschrift SemiBold Condensed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jalil jawadi</dc:creator>
  <cp:lastModifiedBy>Atanu Roy</cp:lastModifiedBy>
  <cp:revision>20</cp:revision>
  <dcterms:created xsi:type="dcterms:W3CDTF">2026-07-22T17:19:12Z</dcterms:created>
  <dcterms:modified xsi:type="dcterms:W3CDTF">2026-08-04T08:21:55Z</dcterms:modified>
</cp:coreProperties>
</file>